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Supply Chain Emissions Forecasting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3317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FEBEB"/>
                </a:solidFill>
                <a:latin typeface="Aptos"/>
              </a:defRPr>
            </a:pPr>
            <a:r>
              <a:t>Mathematical framework for supplier-level emissions forecasting, targets, risk, and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77639"/>
            <a:ext cx="2926080" cy="9144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Audience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ESG, Procurement, Sustainability, Data Science,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3977639"/>
            <a:ext cx="2926080" cy="9144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Output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Python model, Excel formulas, Qlik Sense dashboard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3977639"/>
            <a:ext cx="2926080" cy="9144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Scope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Supplier target, industry fallback, and historical trend pathways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Executive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571"/>
                </a:solidFill>
                <a:latin typeface="Aptos"/>
              </a:defRPr>
            </a:pPr>
            <a:r>
              <a:t>Forecast supplier emissions from historical data to future target years.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743200" cy="18288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Why it matters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Links supplier emissions to procurement, targets, and decarbonization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1828800"/>
            <a:ext cx="2743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What it produces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Supplier-year forecasts, glide paths, gaps, risk categories, and confidence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828800"/>
            <a:ext cx="2743200" cy="1828800"/>
          </a:xfrm>
          <a:prstGeom prst="roundRect">
            <a:avLst/>
          </a:prstGeom>
          <a:solidFill>
            <a:srgbClr val="F0FDF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How it scales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Same logic can run in Python, Excel, and Qlik Sense.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Primary goal: create a transparent, repeatable, and auditable emissions forecasting model.</a:t>
            </a:r>
          </a:p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Business users get target status and risk. Technical users get formulas, flags, and reproducible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Business Questions Answered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543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question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 answer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ESG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Are supplier emissions aligned to targets?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Forecast vs target and glide path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Which suppliers need engagement?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Risk category, gap-to-target, top emitters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Sustainability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What reductions are required annually?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Annual reduction required and carbon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Data Science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Which method and assumptions were used?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Forecast method flag and formula library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Can calculations be traced?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Source flags, validation flags, confidence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End-to-End 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69164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Source data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Supplier, activity, emissions, targets, factors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76272" y="235915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1965960"/>
            <a:ext cx="1691640" cy="11430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Emission calc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Reported, scope, spend, revenue, industry fallback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50792" y="235915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1965960"/>
            <a:ext cx="1691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Method select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Supplier target, industry haircut, historical trend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235915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965960"/>
            <a:ext cx="169164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Forecast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Target emissions, glide path, gap, budget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9832" y="235915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1965960"/>
            <a:ext cx="169164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Outputs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CSV, Excel, Qlik dashboard, audit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Architecture separates source data, calculations, forecast logic, and dashboard outputs.</a:t>
            </a:r>
          </a:p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Each output record keeps its source, method, quality, and validation flags for traceability.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Source Data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8153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Required fields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Supplier_ID, Supplier_Name, 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Segmentation, joins, ownership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Historical Emissions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Year, spend, revenue, reported emissions, scopes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Base emissions and trends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Baseline year, target year, reduction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Supplier-specific pathway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Haircut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target year, reduction percent, factors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Fallback targets and estimates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Formula Dictionary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Calculated parameter, Excel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Excel implementation and audit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Total Emission Value Fallback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69164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P1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Reported emissions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76272" y="208483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1691640"/>
            <a:ext cx="1691640" cy="11430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P2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Scope 1 + 2 + 3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50792" y="208483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1691640"/>
            <a:ext cx="169164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P3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Spend x factor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208483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169164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P4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Revenue x intensity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9832" y="208483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1691640"/>
            <a:ext cx="169164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P5/P6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Industry estimate or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200"/>
            <a:ext cx="10789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Formula: use the highest-quality available input, then move through increasingly estimated fallbacks.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Every record receives Emission_Source_Flag, Fallback_Applied_Flag, Data_Quality_Flag, Missing_Parameter_Flag, Confidence_Score, and Validation_Flag.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Data Quality, Confidence,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 used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Typical confidence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Audit interpretation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reported emissions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Preferred supplier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Scope 1 + Scope 2 + Scope 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Reported components sum to total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Spend-based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Good scalable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Revenue-based estimate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Medium-Low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Useful when spend is missing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Last-resort estimate for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Missing data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Missing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Requires remediation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Forecast Method Selection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108960" cy="1371600"/>
          </a:xfrm>
          <a:prstGeom prst="roundRect">
            <a:avLst/>
          </a:prstGeom>
          <a:solidFill>
            <a:srgbClr val="DCFCE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1. Supplier Target Pathway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Use when supplier baseline year, target year, and reduction percent are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71600"/>
            <a:ext cx="3108960" cy="13716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2. Industry Haircut Pathway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Use when supplier target is missing but industry pathway assumptions exist.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108960" cy="137160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3. Historical Trend Pathway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Use supplier historical emissions CAGR when target pathways are unavailable.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4241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The hierarchy gives preference to supplier commitments, then sector assumptions, then observed historical behavior.</a:t>
            </a:r>
          </a:p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Forecast_Method_Flag makes the chosen pathway transparent in Python, Excel, and Qlik Sense.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Method 1: Supplier Target Pathway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Use when supplier-specific target data exists.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Inputs: baseline emissions, baseline year, target year, target reduction percentage.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Target_Emission = Baseline_Emission x (1 - Target_Reduction_Percentage).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Forecast follows the annual glide path to the supplier target.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Best for supplier engagement, contractual targets, and executive accountability.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63040"/>
            <a:ext cx="4754880" cy="1188720"/>
          </a:xfrm>
          <a:prstGeom prst="roundRect">
            <a:avLst/>
          </a:prstGeom>
          <a:solidFill>
            <a:srgbClr val="DCFCE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Business impact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Aligns forecast with supplier's stated decarbonization commitment.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971800"/>
            <a:ext cx="4754880" cy="118872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Advantage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High relevance and easy to explain to Procurement and ESG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480560"/>
            <a:ext cx="4754880" cy="118872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Drawback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Depends on reliable supplier target evidence and baseline data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Method 2: Industry Haircut Pathway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Use when supplier-specific target data is missing.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Inputs: industry reduction percentage, industry target year, supplier baseline emissions.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Target_Emission = Baseline_Emission x (1 - Industry_Reduction_Percentage).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Forecast uses a linear glide path from baseline to industry target.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Useful for consistent sector-based assumptions across supplier portfolios.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63040"/>
            <a:ext cx="4754880" cy="118872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Business impact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Gives coverage for suppliers without formal or disclosed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971800"/>
            <a:ext cx="475488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Advantage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Scalable and simple to maintain by industry.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480560"/>
            <a:ext cx="4754880" cy="118872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Drawback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Less supplier-specific and may hide outperformance or underperformance.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Method 3: Historical Trend Pathway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Use when supplier and industry pathway data are unavailable.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Inputs: supplier historical emissions by year and latest emissions.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Historical_Trend = CAGR of supplier emissions history.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Forecast_Emission = Latest_Emission x (1 + Historical_Trend)^n.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Best used as a data-driven fallback with confidence caveats.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63040"/>
            <a:ext cx="4754880" cy="118872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Business impact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Prevents blank forecasts and highlights suppliers needing better target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971800"/>
            <a:ext cx="475488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Advantage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Reflects observed behavior and supplier growth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480560"/>
            <a:ext cx="4754880" cy="1188720"/>
          </a:xfrm>
          <a:prstGeom prst="roundRect">
            <a:avLst/>
          </a:prstGeom>
          <a:solidFill>
            <a:srgbClr val="FEF2F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Drawback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Sensitive to outliers, reporting changes, and limited 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Core Mathematical Formula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014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63436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Total emission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Reported else scopes else spend x factor else revenue x intensity else industry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Target emission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Baseline_Emission x (1 - Reduction_Percentage)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Annual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(Baseline_Emission - Target_Emission) / (Target_Year - Baseline_Year)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Glide path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max(Target_Emission, Baseline_Emission - Annual_Reduction x Years_From_Baseline)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Historical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Latest_Emission x (1 + Historical_CAGR)^Years_After_Latest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Gap to target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Forecast_Emission - Target_Emission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Carbon budget remaining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Target_Carbon_Budget - Cumulative_Emissions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Final Forecast Output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Supplier identity: ID, name, industry.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Time fields: supplier year, baseline year, target year, forecast year.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Emissions inputs: reported emissions, scopes, spend, revenue, total emission value.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Audit flags: source, fallback, data quality, missing parameters, validation.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Forecast outputs: target, forecast, glide path, gap, budget, confidence, risk,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17320"/>
            <a:ext cx="4754880" cy="109728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Primary metric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Forecast_Emission by Supplier_ID and Forecast_Year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788920"/>
            <a:ext cx="4754880" cy="109728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Decision metric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Gap_to_Target and Supplier_Risk_Category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160520"/>
            <a:ext cx="475488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Governance metric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Confidence_Score and Validation_Flag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Sample Data and Generated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100 suppliers across multiple industries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Historical Emissions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1,000 supplier-year records from 2015 to 2024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Supplier-specific baseline, target year, and reduction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Haircut Pathway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reduction assumptions and emission factors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Forecast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1,600 supplier-year forecasts from 2025 to 2040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Excel Workbook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All datasets, data dictionary, and formula dictionary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Python Implementation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69164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1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Generate or read data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76272" y="199339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1600200"/>
            <a:ext cx="1691640" cy="11430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2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Clean missing values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50792" y="199339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1600200"/>
            <a:ext cx="1691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3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Calculate emissions and flags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199339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600200"/>
            <a:ext cx="169164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4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Apply forecasts and glide paths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9832" y="1993392"/>
            <a:ext cx="292608" cy="320040"/>
          </a:xfrm>
          <a:prstGeom prst="rightArrow">
            <a:avLst/>
          </a:prstGeom>
          <a:solidFill>
            <a:srgbClr val="5D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1600200"/>
            <a:ext cx="169164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5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Export CSV and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Script: src/supply_chain_emissions_forecast.py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Run: python3 src/supply_chain_emissions_forecast.py --output-dir data/output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Outputs are ready for Excel review and Qlik Sense ingestion.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Excel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Use structured table references for maintainable formulas.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Keep separate tables for source data, targets, factors, and forecast output.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Use flags to make fallback logic visible to business users.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Protect formula columns and allow source data refresh.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325880"/>
            <a:ext cx="48920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Example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=IF([@[Reported_Emissions]]&lt;&gt;"",[@[Reported_Emissions]], fallback logic)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788920"/>
            <a:ext cx="4892040" cy="109728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Formula dictionary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Generated as formula_dictionary.csv and included in the Excel workbook.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251960"/>
            <a:ext cx="4892040" cy="1097280"/>
          </a:xfrm>
          <a:prstGeom prst="roundRect">
            <a:avLst/>
          </a:prstGeom>
          <a:solidFill>
            <a:srgbClr val="F0FDF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Audit benefit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Business users can trace every calculated field to a formula.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Qlik Sense Dashboard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014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63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charts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Business question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KPI tiles and 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What is the portfolio view?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Executive summary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Trend, gap, risk, budget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Are we on track?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forecast line, top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Which suppliers drive emissions?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benchmark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emissions and intensity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Which sectors are highest risk?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Gap-to-target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Gap by supplier and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Where is action required?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Data quality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Source, fallback, missing fields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Can we trust the data?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Risk 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x risk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Where should Procurement engage?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Scenario analysis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Reduction and growth variables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What if assumptions change?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Controls, Validation, and Auditability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743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Input controls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Mandatory supplier ID, year, industry; non-negative emissions and activity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79" y="1417320"/>
            <a:ext cx="2743200" cy="18288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Calculation controls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Explicit fallback sequence, source flags, validation flags, and method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2743200" cy="1828800"/>
          </a:xfrm>
          <a:prstGeom prst="roundRect">
            <a:avLst/>
          </a:prstGeom>
          <a:solidFill>
            <a:srgbClr val="F0FDF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Output controls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Risk category, confidence score, target status, and exception review 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Recommended validation: missing emissions, negative values, target year before baseline, low confidence, outliers, missing factors.</a:t>
            </a:r>
          </a:p>
          <a:p>
            <a:pPr>
              <a:spcAft>
                <a:spcPts val="700"/>
              </a:spcAft>
              <a:defRPr sz="1600">
                <a:solidFill>
                  <a:srgbClr val="152B4D"/>
                </a:solidFill>
                <a:latin typeface="Aptos"/>
              </a:defRPr>
            </a:pPr>
            <a:r>
              <a:t>Each exception should route to supplier data remediation or analyst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Assumptions, Risks,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Assumption or risk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52B4D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Supplier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Reported emissions may be unaudited or inconsistent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Track source and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Factors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Emission factors may become outdated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Version factor tables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Spend growth can reflect inflation, not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Add volume data when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pathways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Industry averages may not fit individual suppliers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Replace with supplier targets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Historical 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Past trend may not predict future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2B4D"/>
                          </a:solidFill>
                          <a:latin typeface="Aptos"/>
                        </a:defRPr>
                      </a:pPr>
                      <a:r>
                        <a:t>Backtest and scenario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B4D"/>
                </a:solidFill>
                <a:latin typeface="Aptos Display"/>
              </a:defRPr>
            </a:pPr>
            <a:r>
              <a:t>Roadmap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743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1. Operationalize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Load actual supplier data, confirm units, and validate factor 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79" y="1417320"/>
            <a:ext cx="2743200" cy="1828800"/>
          </a:xfrm>
          <a:prstGeom prst="roundRect">
            <a:avLst/>
          </a:prstGeom>
          <a:solidFill>
            <a:srgbClr val="E8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2. Govern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Assign data owners, review exceptions, and document factor versions.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2743200" cy="1828800"/>
          </a:xfrm>
          <a:prstGeom prst="roundRect">
            <a:avLst/>
          </a:prstGeom>
          <a:solidFill>
            <a:srgbClr val="F0FDF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>
              <a:defRPr sz="1500" b="1">
                <a:solidFill>
                  <a:srgbClr val="152B4D"/>
                </a:solidFill>
                <a:latin typeface="Aptos"/>
              </a:defRPr>
            </a:pPr>
            <a:r>
              <a:t>3. Enhance</a:t>
            </a:r>
          </a:p>
          <a:p>
            <a:pPr>
              <a:defRPr sz="1200">
                <a:solidFill>
                  <a:srgbClr val="5D6571"/>
                </a:solidFill>
                <a:latin typeface="Aptos"/>
              </a:defRPr>
            </a:pPr>
            <a:r>
              <a:t>Add scenarios, uncertainty ranges, regional factors, and backtesting.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Recommended decision: approve the model logic as the baseline forecasting method.</a:t>
            </a:r>
          </a:p>
          <a:p>
            <a:pPr>
              <a:spcAft>
                <a:spcPts val="700"/>
              </a:spcAft>
              <a:defRPr sz="1700">
                <a:solidFill>
                  <a:srgbClr val="152B4D"/>
                </a:solidFill>
                <a:latin typeface="Aptos"/>
              </a:defRPr>
            </a:pPr>
            <a:r>
              <a:t>Recommended action: pilot with strategic suppliers and prioritize remediation for low-confidence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571"/>
                </a:solidFill>
                <a:latin typeface="Aptos"/>
              </a:defRPr>
            </a:pPr>
            <a:r>
              <a:t>Supply Chain Emissions Forecasting Model | Slide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